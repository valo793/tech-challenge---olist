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7335500" cy="990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569"/>
    <a:srgbClr val="001F3F"/>
    <a:srgbClr val="E3E9ED"/>
    <a:srgbClr val="E7F3FF"/>
    <a:srgbClr val="FFFFFF"/>
    <a:srgbClr val="D9E1E7"/>
    <a:srgbClr val="ECF0F3"/>
    <a:srgbClr val="E0E7EC"/>
    <a:srgbClr val="E5EBEF"/>
    <a:srgbClr val="96A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118" autoAdjust="0"/>
  </p:normalViewPr>
  <p:slideViewPr>
    <p:cSldViewPr snapToGrid="0">
      <p:cViewPr>
        <p:scale>
          <a:sx n="100" d="100"/>
          <a:sy n="100" d="100"/>
        </p:scale>
        <p:origin x="85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3F994-F27D-4E49-8B18-EB36F719280C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57250"/>
            <a:ext cx="4051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0C262-D170-4C8B-A7EA-D3FE3FA5CD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48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1pPr>
    <a:lvl2pPr marL="653796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2pPr>
    <a:lvl3pPr marL="1307592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3pPr>
    <a:lvl4pPr marL="1961388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4pPr>
    <a:lvl5pPr marL="2615184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5pPr>
    <a:lvl6pPr marL="3268980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6pPr>
    <a:lvl7pPr marL="3922776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7pPr>
    <a:lvl8pPr marL="4576572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8pPr>
    <a:lvl9pPr marL="5230368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040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44A4-F1CB-A1A4-F068-84B8A079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FCCF9-9E89-3730-FC7F-A9AD518E4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FB62A-17B8-6EC1-9CF1-B04EA1C87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8391A-CD89-A210-E014-CDAEE8E44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084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F30D-797F-57C1-CBB9-942587DB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FBEF6-6671-1F83-1C7F-B3A597D22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B6DAE-8E98-C595-933A-F363E2EB6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4EBA5-4B82-6805-AB05-6C93808C1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57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EE9F-E924-1108-1DAF-687C2336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21859-0DEE-002A-1961-3B8FD199D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3BB05-C1C0-0F23-E193-A0A03CD53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64024-8BFF-69E5-A0A8-245D58463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56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6938" y="1621191"/>
            <a:ext cx="13001625" cy="3448756"/>
          </a:xfrm>
        </p:spPr>
        <p:txBody>
          <a:bodyPr anchor="b"/>
          <a:lstStyle>
            <a:lvl1pPr algn="ctr">
              <a:defRPr sz="8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6938" y="5202944"/>
            <a:ext cx="13001625" cy="2391656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093" indent="0" algn="ctr">
              <a:buNone/>
              <a:defRPr sz="2844"/>
            </a:lvl2pPr>
            <a:lvl3pPr marL="1300185" indent="0" algn="ctr">
              <a:buNone/>
              <a:defRPr sz="2559"/>
            </a:lvl3pPr>
            <a:lvl4pPr marL="1950278" indent="0" algn="ctr">
              <a:buNone/>
              <a:defRPr sz="2275"/>
            </a:lvl4pPr>
            <a:lvl5pPr marL="2600371" indent="0" algn="ctr">
              <a:buNone/>
              <a:defRPr sz="2275"/>
            </a:lvl5pPr>
            <a:lvl6pPr marL="3250463" indent="0" algn="ctr">
              <a:buNone/>
              <a:defRPr sz="2275"/>
            </a:lvl6pPr>
            <a:lvl7pPr marL="3900556" indent="0" algn="ctr">
              <a:buNone/>
              <a:defRPr sz="2275"/>
            </a:lvl7pPr>
            <a:lvl8pPr marL="4550649" indent="0" algn="ctr">
              <a:buNone/>
              <a:defRPr sz="2275"/>
            </a:lvl8pPr>
            <a:lvl9pPr marL="5200741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63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87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787" y="2469622"/>
            <a:ext cx="14951869" cy="4120620"/>
          </a:xfrm>
        </p:spPr>
        <p:txBody>
          <a:bodyPr anchor="b"/>
          <a:lstStyle>
            <a:lvl1pPr>
              <a:defRPr sz="8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2787" y="6629225"/>
            <a:ext cx="14951869" cy="2166937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093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185" indent="0">
              <a:buNone/>
              <a:defRPr sz="2559">
                <a:solidFill>
                  <a:schemeClr val="tx1">
                    <a:tint val="75000"/>
                  </a:schemeClr>
                </a:solidFill>
              </a:defRPr>
            </a:lvl3pPr>
            <a:lvl4pPr marL="1950278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371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0463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0556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0649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0741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6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1815" y="2637014"/>
            <a:ext cx="7367588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6097" y="2637014"/>
            <a:ext cx="7367588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19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073" y="527404"/>
            <a:ext cx="14951869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074" y="2428347"/>
            <a:ext cx="7333728" cy="1190095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093" indent="0">
              <a:buNone/>
              <a:defRPr sz="2844" b="1"/>
            </a:lvl2pPr>
            <a:lvl3pPr marL="1300185" indent="0">
              <a:buNone/>
              <a:defRPr sz="2559" b="1"/>
            </a:lvl3pPr>
            <a:lvl4pPr marL="1950278" indent="0">
              <a:buNone/>
              <a:defRPr sz="2275" b="1"/>
            </a:lvl4pPr>
            <a:lvl5pPr marL="2600371" indent="0">
              <a:buNone/>
              <a:defRPr sz="2275" b="1"/>
            </a:lvl5pPr>
            <a:lvl6pPr marL="3250463" indent="0">
              <a:buNone/>
              <a:defRPr sz="2275" b="1"/>
            </a:lvl6pPr>
            <a:lvl7pPr marL="3900556" indent="0">
              <a:buNone/>
              <a:defRPr sz="2275" b="1"/>
            </a:lvl7pPr>
            <a:lvl8pPr marL="4550649" indent="0">
              <a:buNone/>
              <a:defRPr sz="2275" b="1"/>
            </a:lvl8pPr>
            <a:lvl9pPr marL="5200741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074" y="3618442"/>
            <a:ext cx="7333728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6097" y="2428347"/>
            <a:ext cx="7369845" cy="1190095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093" indent="0">
              <a:buNone/>
              <a:defRPr sz="2844" b="1"/>
            </a:lvl2pPr>
            <a:lvl3pPr marL="1300185" indent="0">
              <a:buNone/>
              <a:defRPr sz="2559" b="1"/>
            </a:lvl3pPr>
            <a:lvl4pPr marL="1950278" indent="0">
              <a:buNone/>
              <a:defRPr sz="2275" b="1"/>
            </a:lvl4pPr>
            <a:lvl5pPr marL="2600371" indent="0">
              <a:buNone/>
              <a:defRPr sz="2275" b="1"/>
            </a:lvl5pPr>
            <a:lvl6pPr marL="3250463" indent="0">
              <a:buNone/>
              <a:defRPr sz="2275" b="1"/>
            </a:lvl6pPr>
            <a:lvl7pPr marL="3900556" indent="0">
              <a:buNone/>
              <a:defRPr sz="2275" b="1"/>
            </a:lvl7pPr>
            <a:lvl8pPr marL="4550649" indent="0">
              <a:buNone/>
              <a:defRPr sz="2275" b="1"/>
            </a:lvl8pPr>
            <a:lvl9pPr marL="5200741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6097" y="3618442"/>
            <a:ext cx="736984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8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08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08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075" y="660400"/>
            <a:ext cx="5591149" cy="231140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845" y="1426281"/>
            <a:ext cx="8776097" cy="7039681"/>
          </a:xfrm>
        </p:spPr>
        <p:txBody>
          <a:bodyPr/>
          <a:lstStyle>
            <a:lvl1pPr>
              <a:defRPr sz="4550"/>
            </a:lvl1pPr>
            <a:lvl2pPr>
              <a:defRPr sz="3981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075" y="2971800"/>
            <a:ext cx="5591149" cy="5505627"/>
          </a:xfrm>
        </p:spPr>
        <p:txBody>
          <a:bodyPr/>
          <a:lstStyle>
            <a:lvl1pPr marL="0" indent="0">
              <a:buNone/>
              <a:defRPr sz="2275"/>
            </a:lvl1pPr>
            <a:lvl2pPr marL="650093" indent="0">
              <a:buNone/>
              <a:defRPr sz="1991"/>
            </a:lvl2pPr>
            <a:lvl3pPr marL="1300185" indent="0">
              <a:buNone/>
              <a:defRPr sz="1706"/>
            </a:lvl3pPr>
            <a:lvl4pPr marL="1950278" indent="0">
              <a:buNone/>
              <a:defRPr sz="1422"/>
            </a:lvl4pPr>
            <a:lvl5pPr marL="2600371" indent="0">
              <a:buNone/>
              <a:defRPr sz="1422"/>
            </a:lvl5pPr>
            <a:lvl6pPr marL="3250463" indent="0">
              <a:buNone/>
              <a:defRPr sz="1422"/>
            </a:lvl6pPr>
            <a:lvl7pPr marL="3900556" indent="0">
              <a:buNone/>
              <a:defRPr sz="1422"/>
            </a:lvl7pPr>
            <a:lvl8pPr marL="4550649" indent="0">
              <a:buNone/>
              <a:defRPr sz="1422"/>
            </a:lvl8pPr>
            <a:lvl9pPr marL="5200741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68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075" y="660400"/>
            <a:ext cx="5591149" cy="231140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69845" y="1426281"/>
            <a:ext cx="8776097" cy="7039681"/>
          </a:xfrm>
        </p:spPr>
        <p:txBody>
          <a:bodyPr anchor="t"/>
          <a:lstStyle>
            <a:lvl1pPr marL="0" indent="0">
              <a:buNone/>
              <a:defRPr sz="4550"/>
            </a:lvl1pPr>
            <a:lvl2pPr marL="650093" indent="0">
              <a:buNone/>
              <a:defRPr sz="3981"/>
            </a:lvl2pPr>
            <a:lvl3pPr marL="1300185" indent="0">
              <a:buNone/>
              <a:defRPr sz="3413"/>
            </a:lvl3pPr>
            <a:lvl4pPr marL="1950278" indent="0">
              <a:buNone/>
              <a:defRPr sz="2844"/>
            </a:lvl4pPr>
            <a:lvl5pPr marL="2600371" indent="0">
              <a:buNone/>
              <a:defRPr sz="2844"/>
            </a:lvl5pPr>
            <a:lvl6pPr marL="3250463" indent="0">
              <a:buNone/>
              <a:defRPr sz="2844"/>
            </a:lvl6pPr>
            <a:lvl7pPr marL="3900556" indent="0">
              <a:buNone/>
              <a:defRPr sz="2844"/>
            </a:lvl7pPr>
            <a:lvl8pPr marL="4550649" indent="0">
              <a:buNone/>
              <a:defRPr sz="2844"/>
            </a:lvl8pPr>
            <a:lvl9pPr marL="5200741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075" y="2971800"/>
            <a:ext cx="5591149" cy="5505627"/>
          </a:xfrm>
        </p:spPr>
        <p:txBody>
          <a:bodyPr/>
          <a:lstStyle>
            <a:lvl1pPr marL="0" indent="0">
              <a:buNone/>
              <a:defRPr sz="2275"/>
            </a:lvl1pPr>
            <a:lvl2pPr marL="650093" indent="0">
              <a:buNone/>
              <a:defRPr sz="1991"/>
            </a:lvl2pPr>
            <a:lvl3pPr marL="1300185" indent="0">
              <a:buNone/>
              <a:defRPr sz="1706"/>
            </a:lvl3pPr>
            <a:lvl4pPr marL="1950278" indent="0">
              <a:buNone/>
              <a:defRPr sz="1422"/>
            </a:lvl4pPr>
            <a:lvl5pPr marL="2600371" indent="0">
              <a:buNone/>
              <a:defRPr sz="1422"/>
            </a:lvl5pPr>
            <a:lvl6pPr marL="3250463" indent="0">
              <a:buNone/>
              <a:defRPr sz="1422"/>
            </a:lvl6pPr>
            <a:lvl7pPr marL="3900556" indent="0">
              <a:buNone/>
              <a:defRPr sz="1422"/>
            </a:lvl7pPr>
            <a:lvl8pPr marL="4550649" indent="0">
              <a:buNone/>
              <a:defRPr sz="1422"/>
            </a:lvl8pPr>
            <a:lvl9pPr marL="5200741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76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47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5717" y="527403"/>
            <a:ext cx="3737967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1816" y="527403"/>
            <a:ext cx="10997208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4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1816" y="527404"/>
            <a:ext cx="14951869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6" y="2637014"/>
            <a:ext cx="14951869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1815" y="9181395"/>
            <a:ext cx="3900488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14D89-52DD-4867-AED5-99ECABF3C3B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2385" y="9181395"/>
            <a:ext cx="585073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3197" y="9181395"/>
            <a:ext cx="3900488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9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00185" rtl="0" eaLnBrk="1" latinLnBrk="0" hangingPunct="1">
        <a:lnSpc>
          <a:spcPct val="90000"/>
        </a:lnSpc>
        <a:spcBef>
          <a:spcPct val="0"/>
        </a:spcBef>
        <a:buNone/>
        <a:defRPr sz="6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046" indent="-325046" algn="l" defTabSz="1300185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1" kern="1200">
          <a:solidFill>
            <a:schemeClr val="tx1"/>
          </a:solidFill>
          <a:latin typeface="+mn-lt"/>
          <a:ea typeface="+mn-ea"/>
          <a:cs typeface="+mn-cs"/>
        </a:defRPr>
      </a:lvl1pPr>
      <a:lvl2pPr marL="975139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232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324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4pPr>
      <a:lvl5pPr marL="2925417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5pPr>
      <a:lvl6pPr marL="3575510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6pPr>
      <a:lvl7pPr marL="4225602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7pPr>
      <a:lvl8pPr marL="4875695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8pPr>
      <a:lvl9pPr marL="5525788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1pPr>
      <a:lvl2pPr marL="650093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2pPr>
      <a:lvl3pPr marL="1300185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3pPr>
      <a:lvl4pPr marL="1950278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4pPr>
      <a:lvl5pPr marL="2600371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5pPr>
      <a:lvl6pPr marL="3250463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6pPr>
      <a:lvl7pPr marL="3900556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7pPr>
      <a:lvl8pPr marL="4550649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8pPr>
      <a:lvl9pPr marL="5200741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D25161-B982-A014-01CF-9FC4CC0F77A5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1EC55F6-43F8-AF78-31AE-A77750F5173A}"/>
              </a:ext>
            </a:extLst>
          </p:cNvPr>
          <p:cNvSpPr/>
          <p:nvPr/>
        </p:nvSpPr>
        <p:spPr>
          <a:xfrm flipV="1">
            <a:off x="2324100" y="-5"/>
            <a:ext cx="15011400" cy="4701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03EEB16-5F57-2C79-01E7-BE909707CCAA}"/>
              </a:ext>
            </a:extLst>
          </p:cNvPr>
          <p:cNvSpPr/>
          <p:nvPr/>
        </p:nvSpPr>
        <p:spPr>
          <a:xfrm>
            <a:off x="12865098" y="7626423"/>
            <a:ext cx="4197350" cy="2076377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486701C-F5F0-7C26-90D4-D88877A00384}"/>
              </a:ext>
            </a:extLst>
          </p:cNvPr>
          <p:cNvSpPr/>
          <p:nvPr/>
        </p:nvSpPr>
        <p:spPr>
          <a:xfrm>
            <a:off x="2590796" y="7107026"/>
            <a:ext cx="10109201" cy="259577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F05DC28-232A-16C3-3EAF-B039EBFAC16A}"/>
              </a:ext>
            </a:extLst>
          </p:cNvPr>
          <p:cNvSpPr/>
          <p:nvPr/>
        </p:nvSpPr>
        <p:spPr>
          <a:xfrm>
            <a:off x="12858748" y="1801515"/>
            <a:ext cx="4210049" cy="3162296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53A48D7-3BD3-F2CE-F5E5-392A5D514F28}"/>
              </a:ext>
            </a:extLst>
          </p:cNvPr>
          <p:cNvSpPr/>
          <p:nvPr/>
        </p:nvSpPr>
        <p:spPr>
          <a:xfrm>
            <a:off x="12865098" y="5101626"/>
            <a:ext cx="4203700" cy="237867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E7D3A1C-2388-F4F0-3457-1E590C99B2E1}"/>
              </a:ext>
            </a:extLst>
          </p:cNvPr>
          <p:cNvSpPr/>
          <p:nvPr/>
        </p:nvSpPr>
        <p:spPr>
          <a:xfrm>
            <a:off x="2606673" y="5101626"/>
            <a:ext cx="10083800" cy="1859277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9E1367C9-8B6F-7AD6-6C41-2CEFD97A9C68}"/>
              </a:ext>
            </a:extLst>
          </p:cNvPr>
          <p:cNvSpPr/>
          <p:nvPr/>
        </p:nvSpPr>
        <p:spPr>
          <a:xfrm>
            <a:off x="2590796" y="601577"/>
            <a:ext cx="14478001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61BB266-3399-B644-CEB1-ABF0D89B29CB}"/>
              </a:ext>
            </a:extLst>
          </p:cNvPr>
          <p:cNvSpPr/>
          <p:nvPr/>
        </p:nvSpPr>
        <p:spPr>
          <a:xfrm>
            <a:off x="2590797" y="1788812"/>
            <a:ext cx="10109200" cy="3174999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BAD43D-16F3-329B-23E3-069CE06D7A21}"/>
              </a:ext>
            </a:extLst>
          </p:cNvPr>
          <p:cNvSpPr/>
          <p:nvPr/>
        </p:nvSpPr>
        <p:spPr>
          <a:xfrm>
            <a:off x="-90535" y="-99588"/>
            <a:ext cx="2414635" cy="10005588"/>
          </a:xfrm>
          <a:prstGeom prst="rect">
            <a:avLst/>
          </a:prstGeom>
          <a:solidFill>
            <a:srgbClr val="E3E9E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039534-F38C-60C3-D6DB-43B659ECB9D3}"/>
              </a:ext>
            </a:extLst>
          </p:cNvPr>
          <p:cNvSpPr/>
          <p:nvPr/>
        </p:nvSpPr>
        <p:spPr>
          <a:xfrm>
            <a:off x="-90535" y="9778766"/>
            <a:ext cx="2414635" cy="316364"/>
          </a:xfrm>
          <a:prstGeom prst="rect">
            <a:avLst/>
          </a:prstGeom>
          <a:solidFill>
            <a:srgbClr val="001F3F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0CA692-708E-17B0-F2BE-5C864ADB569B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01F3F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E33D1-C769-A813-24BD-11D2A68A29D2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DD1CD-E11D-54F7-337C-AA28CBD76268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72EDDB-AA56-2A0C-824E-13A7F627B5A9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FORECAST &amp; SIMULAÇÃO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D4E15E-4B42-B444-55BA-F0F4CCD305BC}"/>
              </a:ext>
            </a:extLst>
          </p:cNvPr>
          <p:cNvSpPr/>
          <p:nvPr/>
        </p:nvSpPr>
        <p:spPr>
          <a:xfrm flipV="1">
            <a:off x="394868" y="3972055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4BB959-8FEF-8DBE-E013-2515F1A86B7C}"/>
              </a:ext>
            </a:extLst>
          </p:cNvPr>
          <p:cNvSpPr txBox="1"/>
          <p:nvPr/>
        </p:nvSpPr>
        <p:spPr>
          <a:xfrm>
            <a:off x="-25006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1F3F"/>
                </a:solidFill>
              </a:rPr>
              <a:t>OLIST DASHBOARDS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BA19E9-1F22-6E8E-36A9-020B79056886}"/>
              </a:ext>
            </a:extLst>
          </p:cNvPr>
          <p:cNvSpPr txBox="1"/>
          <p:nvPr/>
        </p:nvSpPr>
        <p:spPr>
          <a:xfrm>
            <a:off x="2622692" y="35884"/>
            <a:ext cx="273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GANHOS &amp; CRESCIMENTO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0DCE5C1-1196-E9D5-CDFC-4B406F45382F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9119069-8273-0482-9B65-E7E8F2A994C0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634E6D8-572C-C3F4-17F8-EF208C44436B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2D29C6-9F63-1FA7-B2F5-FC07E113848F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AABFA3-047D-8D23-D113-70790302A152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EFE91A-C957-A651-17F2-A6A5F0652E17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1A2C803-3657-E0AF-381A-F609F1E8F52E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38BF88C-D813-880D-6FEE-FA39479B6723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4D64013-6FC2-7065-F71E-5B921EDB09A0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DEE61FE6-4CCE-8FF0-D21C-D6CDD54FC89E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1A453BD-830D-F5FB-483E-10CB614B2E6A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9FCC207-5BF0-DF88-7395-0D1975127A56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670B1A-525F-A988-73EF-684229DF812B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13F52754-7B1A-CCFA-E6F6-9D3FF6ADFC37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B80DFFA-D937-1298-39A5-1721CF11A0D7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D054386-C164-1B40-A1CC-B32D9E0E5BFF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7D2C359-1BAD-7EE9-D028-9B6F1B11F6BB}"/>
              </a:ext>
            </a:extLst>
          </p:cNvPr>
          <p:cNvGrpSpPr/>
          <p:nvPr/>
        </p:nvGrpSpPr>
        <p:grpSpPr>
          <a:xfrm>
            <a:off x="287212" y="6231681"/>
            <a:ext cx="272951" cy="316365"/>
            <a:chOff x="1257300" y="7731429"/>
            <a:chExt cx="388820" cy="480236"/>
          </a:xfrm>
        </p:grpSpPr>
        <p:sp>
          <p:nvSpPr>
            <p:cNvPr id="71" name="Flowchart: Data 70">
              <a:extLst>
                <a:ext uri="{FF2B5EF4-FFF2-40B4-BE49-F238E27FC236}">
                  <a16:creationId xmlns:a16="http://schemas.microsoft.com/office/drawing/2014/main" id="{697C0ACD-BD81-07B1-31DE-2C269B198B69}"/>
                </a:ext>
              </a:extLst>
            </p:cNvPr>
            <p:cNvSpPr/>
            <p:nvPr/>
          </p:nvSpPr>
          <p:spPr>
            <a:xfrm rot="7595302" flipV="1">
              <a:off x="1273747" y="7782244"/>
              <a:ext cx="267530" cy="1658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Flowchart: Data 69">
              <a:extLst>
                <a:ext uri="{FF2B5EF4-FFF2-40B4-BE49-F238E27FC236}">
                  <a16:creationId xmlns:a16="http://schemas.microsoft.com/office/drawing/2014/main" id="{E5D43F22-4478-BDCC-2995-32EC1A1DE3A1}"/>
                </a:ext>
              </a:extLst>
            </p:cNvPr>
            <p:cNvSpPr/>
            <p:nvPr/>
          </p:nvSpPr>
          <p:spPr>
            <a:xfrm rot="10101382">
              <a:off x="1410920" y="7965067"/>
              <a:ext cx="235200" cy="223391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Flowchart: Data 68">
              <a:extLst>
                <a:ext uri="{FF2B5EF4-FFF2-40B4-BE49-F238E27FC236}">
                  <a16:creationId xmlns:a16="http://schemas.microsoft.com/office/drawing/2014/main" id="{DADC8C56-5F14-832C-EE44-3007303CB2A7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C1E44C6-07C5-D129-D1FB-D1580BE76396}"/>
              </a:ext>
            </a:extLst>
          </p:cNvPr>
          <p:cNvSpPr txBox="1"/>
          <p:nvPr/>
        </p:nvSpPr>
        <p:spPr>
          <a:xfrm>
            <a:off x="3299267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A4CFDFB-096A-D88B-5AB7-82CE6F34F1B1}"/>
              </a:ext>
            </a:extLst>
          </p:cNvPr>
          <p:cNvSpPr txBox="1"/>
          <p:nvPr/>
        </p:nvSpPr>
        <p:spPr>
          <a:xfrm>
            <a:off x="7019161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4049C3-A45D-40D0-BCF5-54AB20F02AE6}"/>
              </a:ext>
            </a:extLst>
          </p:cNvPr>
          <p:cNvSpPr txBox="1"/>
          <p:nvPr/>
        </p:nvSpPr>
        <p:spPr>
          <a:xfrm>
            <a:off x="10739055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TICKET MÉDIO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877945-2860-47CD-5259-0DAD3A243BEF}"/>
              </a:ext>
            </a:extLst>
          </p:cNvPr>
          <p:cNvSpPr txBox="1"/>
          <p:nvPr/>
        </p:nvSpPr>
        <p:spPr>
          <a:xfrm>
            <a:off x="14458948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ULTIMO MÊS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CB7A47-711F-A517-60E2-565A8AB5E4B6}"/>
              </a:ext>
            </a:extLst>
          </p:cNvPr>
          <p:cNvSpPr txBox="1"/>
          <p:nvPr/>
        </p:nvSpPr>
        <p:spPr>
          <a:xfrm>
            <a:off x="2603497" y="1841801"/>
            <a:ext cx="10083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 E TICKET MÉDIO AO LONGO DO TEMPO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6735C3-19CD-F52F-61B5-85FFB5A56AA5}"/>
              </a:ext>
            </a:extLst>
          </p:cNvPr>
          <p:cNvSpPr txBox="1"/>
          <p:nvPr/>
        </p:nvSpPr>
        <p:spPr>
          <a:xfrm>
            <a:off x="12865098" y="1841801"/>
            <a:ext cx="420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 PELA CIDADE DE ENTREGA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CBBD0E-30DA-E071-2E55-BC8411224832}"/>
              </a:ext>
            </a:extLst>
          </p:cNvPr>
          <p:cNvSpPr txBox="1"/>
          <p:nvPr/>
        </p:nvSpPr>
        <p:spPr>
          <a:xfrm>
            <a:off x="12865098" y="5148396"/>
            <a:ext cx="420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 PELAS FORMAS DE PAGAMENTO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5A362F-B478-4A45-A1DA-14506CF16E24}"/>
              </a:ext>
            </a:extLst>
          </p:cNvPr>
          <p:cNvSpPr txBox="1"/>
          <p:nvPr/>
        </p:nvSpPr>
        <p:spPr>
          <a:xfrm>
            <a:off x="12858748" y="7618112"/>
            <a:ext cx="420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PARCELAS MÉDIAS NAS FORMAS DE PAGAMENTO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41D7AB-F4F4-0600-4329-3C0382C83F89}"/>
              </a:ext>
            </a:extLst>
          </p:cNvPr>
          <p:cNvSpPr txBox="1"/>
          <p:nvPr/>
        </p:nvSpPr>
        <p:spPr>
          <a:xfrm>
            <a:off x="2616197" y="5148396"/>
            <a:ext cx="10083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 AO LONGO DO TEMPO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E244DF-FFA3-0226-3726-451907ACD24C}"/>
              </a:ext>
            </a:extLst>
          </p:cNvPr>
          <p:cNvSpPr txBox="1"/>
          <p:nvPr/>
        </p:nvSpPr>
        <p:spPr>
          <a:xfrm>
            <a:off x="2590797" y="7145486"/>
            <a:ext cx="10083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MÉDIA DE RECEITA E TICKET MÉDIO POR MÊSES</a:t>
            </a:r>
          </a:p>
        </p:txBody>
      </p:sp>
    </p:spTree>
    <p:extLst>
      <p:ext uri="{BB962C8B-B14F-4D97-AF65-F5344CB8AC3E}">
        <p14:creationId xmlns:p14="http://schemas.microsoft.com/office/powerpoint/2010/main" val="2844819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AC16-C74E-D436-72FA-C9DF1596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748160-B8B8-E2BD-129A-7D1AF894949F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628D33B-6EBB-AFF3-570A-F9BD2B448EB7}"/>
              </a:ext>
            </a:extLst>
          </p:cNvPr>
          <p:cNvSpPr/>
          <p:nvPr/>
        </p:nvSpPr>
        <p:spPr>
          <a:xfrm flipV="1">
            <a:off x="2324100" y="-5"/>
            <a:ext cx="15011400" cy="4701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88737FE-C242-1AD2-00D1-B3899FEB7C6A}"/>
              </a:ext>
            </a:extLst>
          </p:cNvPr>
          <p:cNvSpPr/>
          <p:nvPr/>
        </p:nvSpPr>
        <p:spPr>
          <a:xfrm>
            <a:off x="11886050" y="5672577"/>
            <a:ext cx="5176398" cy="40302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115FEEF-E9DC-7C93-C755-210EA818A083}"/>
              </a:ext>
            </a:extLst>
          </p:cNvPr>
          <p:cNvSpPr/>
          <p:nvPr/>
        </p:nvSpPr>
        <p:spPr>
          <a:xfrm>
            <a:off x="2590797" y="5672576"/>
            <a:ext cx="7848603" cy="40302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E0A24AD1-3094-E354-521D-2D79D9C0781C}"/>
              </a:ext>
            </a:extLst>
          </p:cNvPr>
          <p:cNvSpPr/>
          <p:nvPr/>
        </p:nvSpPr>
        <p:spPr>
          <a:xfrm>
            <a:off x="10504926" y="1801514"/>
            <a:ext cx="6563872" cy="3705663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3365000-875D-1E17-FE0D-D0964E371124}"/>
              </a:ext>
            </a:extLst>
          </p:cNvPr>
          <p:cNvSpPr/>
          <p:nvPr/>
        </p:nvSpPr>
        <p:spPr>
          <a:xfrm>
            <a:off x="2590796" y="601577"/>
            <a:ext cx="14478001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D60E12A-3DD9-AF7E-BE93-13BB4A3A5A60}"/>
              </a:ext>
            </a:extLst>
          </p:cNvPr>
          <p:cNvSpPr/>
          <p:nvPr/>
        </p:nvSpPr>
        <p:spPr>
          <a:xfrm>
            <a:off x="2590797" y="1788812"/>
            <a:ext cx="7848603" cy="3705664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7A12E2-279C-26F1-2728-BF442900509F}"/>
              </a:ext>
            </a:extLst>
          </p:cNvPr>
          <p:cNvSpPr/>
          <p:nvPr/>
        </p:nvSpPr>
        <p:spPr>
          <a:xfrm>
            <a:off x="-90535" y="-99588"/>
            <a:ext cx="2414635" cy="10005588"/>
          </a:xfrm>
          <a:prstGeom prst="rect">
            <a:avLst/>
          </a:prstGeom>
          <a:solidFill>
            <a:srgbClr val="E3E9E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940AFD-45BD-6C3A-D180-02DACF8F67D9}"/>
              </a:ext>
            </a:extLst>
          </p:cNvPr>
          <p:cNvSpPr/>
          <p:nvPr/>
        </p:nvSpPr>
        <p:spPr>
          <a:xfrm>
            <a:off x="-90535" y="9778766"/>
            <a:ext cx="2414635" cy="316364"/>
          </a:xfrm>
          <a:prstGeom prst="rect">
            <a:avLst/>
          </a:prstGeom>
          <a:solidFill>
            <a:srgbClr val="001F3F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03B21-C032-F470-0DA1-E6EEFA68AD10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4FAB20-26E2-BF21-2034-32BA155BF6EC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01F3F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BF30C-058C-7A3F-0CEA-6634720F0274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5E312-0862-6F0B-7ACE-BE895653B92E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FORECAST &amp; SIMULAÇÃO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62A91D-FB3C-B0D6-7E00-2842C068C832}"/>
              </a:ext>
            </a:extLst>
          </p:cNvPr>
          <p:cNvSpPr/>
          <p:nvPr/>
        </p:nvSpPr>
        <p:spPr>
          <a:xfrm flipV="1">
            <a:off x="394868" y="4786454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5D80C6-BA15-8752-AAF3-45944E5927A5}"/>
              </a:ext>
            </a:extLst>
          </p:cNvPr>
          <p:cNvSpPr txBox="1"/>
          <p:nvPr/>
        </p:nvSpPr>
        <p:spPr>
          <a:xfrm>
            <a:off x="-25006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1F3F"/>
                </a:solidFill>
              </a:rPr>
              <a:t>OLIST DASHBOARDS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D960F1-F4DE-4CBA-451F-EDCCCBD5ACD8}"/>
              </a:ext>
            </a:extLst>
          </p:cNvPr>
          <p:cNvSpPr txBox="1"/>
          <p:nvPr/>
        </p:nvSpPr>
        <p:spPr>
          <a:xfrm>
            <a:off x="2622692" y="35884"/>
            <a:ext cx="273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LOGISTICA &amp; SATISFAÇÃO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C0B9F73-CEDF-CF46-C14A-222ECD2C3153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8B06574-555E-6157-1261-8DE88621375F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DF983F-9003-F35B-3951-2703266CB970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E1938DF-E889-A485-29EC-FEB4C600D44A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8E5FADA-BCC2-188F-ECB6-C2138A5008EA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B96DA70-9086-9870-183C-77FEA59E3E7E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446638B-E86C-E041-B040-A4C15162990A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CA4010A-20EA-45FA-BC60-FCA71BA76154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8A163F6-E892-D501-9694-B2F8C3129A52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6F7FEB25-1476-438D-27C9-65D4DDA70D66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8A809C4-EA7E-F4D5-FCFD-B9C3D415AA49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73720B3-6297-A7DC-7A33-372FFDE47FB1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AFAF300-E301-60B8-2615-B81414D64138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56D5F29-385A-5F0C-5CD9-7A5FB330516C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9A9F49A-48A8-415A-374D-DEFF94C30546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AE44FA-D719-36E5-FC31-1AEB50CCD9D4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1714782-F975-E478-8E37-BB4655E5EF21}"/>
              </a:ext>
            </a:extLst>
          </p:cNvPr>
          <p:cNvGrpSpPr/>
          <p:nvPr/>
        </p:nvGrpSpPr>
        <p:grpSpPr>
          <a:xfrm>
            <a:off x="287212" y="6231681"/>
            <a:ext cx="272951" cy="316365"/>
            <a:chOff x="1257300" y="7731429"/>
            <a:chExt cx="388820" cy="480236"/>
          </a:xfrm>
        </p:grpSpPr>
        <p:sp>
          <p:nvSpPr>
            <p:cNvPr id="71" name="Flowchart: Data 70">
              <a:extLst>
                <a:ext uri="{FF2B5EF4-FFF2-40B4-BE49-F238E27FC236}">
                  <a16:creationId xmlns:a16="http://schemas.microsoft.com/office/drawing/2014/main" id="{948A8883-6E86-DE62-B0E9-D309EE8D87C4}"/>
                </a:ext>
              </a:extLst>
            </p:cNvPr>
            <p:cNvSpPr/>
            <p:nvPr/>
          </p:nvSpPr>
          <p:spPr>
            <a:xfrm rot="7595302" flipV="1">
              <a:off x="1273747" y="7782244"/>
              <a:ext cx="267530" cy="1658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Flowchart: Data 69">
              <a:extLst>
                <a:ext uri="{FF2B5EF4-FFF2-40B4-BE49-F238E27FC236}">
                  <a16:creationId xmlns:a16="http://schemas.microsoft.com/office/drawing/2014/main" id="{20D34C15-45A9-42C5-81D9-A7C48F884E0C}"/>
                </a:ext>
              </a:extLst>
            </p:cNvPr>
            <p:cNvSpPr/>
            <p:nvPr/>
          </p:nvSpPr>
          <p:spPr>
            <a:xfrm rot="10101382">
              <a:off x="1410920" y="7965067"/>
              <a:ext cx="235200" cy="223391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Flowchart: Data 68">
              <a:extLst>
                <a:ext uri="{FF2B5EF4-FFF2-40B4-BE49-F238E27FC236}">
                  <a16:creationId xmlns:a16="http://schemas.microsoft.com/office/drawing/2014/main" id="{BD196149-DAE4-C472-EA9A-B1316A7C8791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4ED5CE1F-3422-172B-1B99-A95F6ACC1C09}"/>
              </a:ext>
            </a:extLst>
          </p:cNvPr>
          <p:cNvSpPr txBox="1"/>
          <p:nvPr/>
        </p:nvSpPr>
        <p:spPr>
          <a:xfrm>
            <a:off x="2965892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CD3C50-F3D9-8229-FE63-3E33B06A30D3}"/>
              </a:ext>
            </a:extLst>
          </p:cNvPr>
          <p:cNvSpPr txBox="1"/>
          <p:nvPr/>
        </p:nvSpPr>
        <p:spPr>
          <a:xfrm>
            <a:off x="5172124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 NO PRAZO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345829-9ABA-F8BC-BE3F-C1D36809E147}"/>
              </a:ext>
            </a:extLst>
          </p:cNvPr>
          <p:cNvSpPr txBox="1"/>
          <p:nvPr/>
        </p:nvSpPr>
        <p:spPr>
          <a:xfrm>
            <a:off x="7378356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 ATRASADOS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7471D7-846F-359A-E921-F224106D1CDB}"/>
              </a:ext>
            </a:extLst>
          </p:cNvPr>
          <p:cNvSpPr txBox="1"/>
          <p:nvPr/>
        </p:nvSpPr>
        <p:spPr>
          <a:xfrm>
            <a:off x="14697073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REVIEWS NEGATIVAS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39AE08-CDBC-6067-5197-91F4BB191F70}"/>
              </a:ext>
            </a:extLst>
          </p:cNvPr>
          <p:cNvSpPr txBox="1"/>
          <p:nvPr/>
        </p:nvSpPr>
        <p:spPr>
          <a:xfrm>
            <a:off x="2603498" y="1841801"/>
            <a:ext cx="7848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CUMPRIMENTO COM PRAZOS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E0D6F8-582F-9441-26F8-FAD7934C2A97}"/>
              </a:ext>
            </a:extLst>
          </p:cNvPr>
          <p:cNvSpPr txBox="1"/>
          <p:nvPr/>
        </p:nvSpPr>
        <p:spPr>
          <a:xfrm>
            <a:off x="10517628" y="1841801"/>
            <a:ext cx="655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CORRELAÇÃO DO ATRASO NA NOTA MÉDIA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2D95DF-7B5C-FD95-6656-229F51194BC1}"/>
              </a:ext>
            </a:extLst>
          </p:cNvPr>
          <p:cNvSpPr txBox="1"/>
          <p:nvPr/>
        </p:nvSpPr>
        <p:spPr>
          <a:xfrm>
            <a:off x="11886049" y="5724233"/>
            <a:ext cx="5176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SELLERS DETRATORES EM LEAD TIME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F2F055-F385-478B-6514-C5D3EEC9EB2B}"/>
              </a:ext>
            </a:extLst>
          </p:cNvPr>
          <p:cNvSpPr txBox="1"/>
          <p:nvPr/>
        </p:nvSpPr>
        <p:spPr>
          <a:xfrm>
            <a:off x="2590797" y="5724234"/>
            <a:ext cx="7505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DISTRIBUIÇÃO DO LEAD TIME AO LONGO DOS MÊSES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966F9-107A-E825-3DCA-3305F70392AE}"/>
              </a:ext>
            </a:extLst>
          </p:cNvPr>
          <p:cNvSpPr txBox="1"/>
          <p:nvPr/>
        </p:nvSpPr>
        <p:spPr>
          <a:xfrm>
            <a:off x="12490842" y="601577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NOTA MÉDIA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A7CE8F-334C-F582-9661-DFC58C7E3760}"/>
              </a:ext>
            </a:extLst>
          </p:cNvPr>
          <p:cNvSpPr/>
          <p:nvPr/>
        </p:nvSpPr>
        <p:spPr>
          <a:xfrm>
            <a:off x="10504925" y="5672577"/>
            <a:ext cx="1315600" cy="40302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2DE70-277B-7734-6F07-73CDF4172082}"/>
              </a:ext>
            </a:extLst>
          </p:cNvPr>
          <p:cNvSpPr txBox="1"/>
          <p:nvPr/>
        </p:nvSpPr>
        <p:spPr>
          <a:xfrm>
            <a:off x="10525123" y="5724232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NOTA NO PRAZO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D1656-9408-D4B1-78DC-E9EA025FF1C5}"/>
              </a:ext>
            </a:extLst>
          </p:cNvPr>
          <p:cNvSpPr txBox="1"/>
          <p:nvPr/>
        </p:nvSpPr>
        <p:spPr>
          <a:xfrm>
            <a:off x="10525123" y="7099475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NOTA ATRASADO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351CE-4FB6-A897-98B8-FD8850A65BE3}"/>
              </a:ext>
            </a:extLst>
          </p:cNvPr>
          <p:cNvSpPr txBox="1"/>
          <p:nvPr/>
        </p:nvSpPr>
        <p:spPr>
          <a:xfrm>
            <a:off x="10525123" y="8442500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IMPACTO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011C8-4260-E93A-C6B7-51E9F7D38C80}"/>
              </a:ext>
            </a:extLst>
          </p:cNvPr>
          <p:cNvSpPr txBox="1"/>
          <p:nvPr/>
        </p:nvSpPr>
        <p:spPr>
          <a:xfrm>
            <a:off x="9584588" y="607926"/>
            <a:ext cx="2566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LEAD TIME COMPRA - ENTREGA</a:t>
            </a:r>
          </a:p>
        </p:txBody>
      </p:sp>
    </p:spTree>
    <p:extLst>
      <p:ext uri="{BB962C8B-B14F-4D97-AF65-F5344CB8AC3E}">
        <p14:creationId xmlns:p14="http://schemas.microsoft.com/office/powerpoint/2010/main" val="81203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A937B-C892-EED8-7761-CD5052B5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0D7954D-8232-8123-7C28-1772C91BDE4D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5559006-F330-F05E-45D2-42FEC4754B55}"/>
              </a:ext>
            </a:extLst>
          </p:cNvPr>
          <p:cNvSpPr/>
          <p:nvPr/>
        </p:nvSpPr>
        <p:spPr>
          <a:xfrm flipV="1">
            <a:off x="2324100" y="-5"/>
            <a:ext cx="15011400" cy="4701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8C7E70F-FC3E-15F9-3CE6-D1F2839DFD16}"/>
              </a:ext>
            </a:extLst>
          </p:cNvPr>
          <p:cNvSpPr/>
          <p:nvPr/>
        </p:nvSpPr>
        <p:spPr>
          <a:xfrm>
            <a:off x="14202532" y="6134852"/>
            <a:ext cx="2859915" cy="3567948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6045C14-5633-8ED0-37AD-49D12F43059E}"/>
              </a:ext>
            </a:extLst>
          </p:cNvPr>
          <p:cNvSpPr/>
          <p:nvPr/>
        </p:nvSpPr>
        <p:spPr>
          <a:xfrm>
            <a:off x="2590797" y="6126340"/>
            <a:ext cx="4572003" cy="3576460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32CBC13-0015-CF41-C574-BDBA8B1DFA0D}"/>
              </a:ext>
            </a:extLst>
          </p:cNvPr>
          <p:cNvSpPr/>
          <p:nvPr/>
        </p:nvSpPr>
        <p:spPr>
          <a:xfrm>
            <a:off x="10504926" y="1801514"/>
            <a:ext cx="6563872" cy="4199716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18F281C-5584-E5AD-AEBD-FB356D4A3802}"/>
              </a:ext>
            </a:extLst>
          </p:cNvPr>
          <p:cNvSpPr/>
          <p:nvPr/>
        </p:nvSpPr>
        <p:spPr>
          <a:xfrm>
            <a:off x="2590796" y="601577"/>
            <a:ext cx="14478001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B28EC6F3-6FBB-AD90-2ABC-0E9EC411CEAA}"/>
              </a:ext>
            </a:extLst>
          </p:cNvPr>
          <p:cNvSpPr/>
          <p:nvPr/>
        </p:nvSpPr>
        <p:spPr>
          <a:xfrm>
            <a:off x="2590797" y="1788811"/>
            <a:ext cx="7848603" cy="4212419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5AEEFF-4394-3C5F-09F0-AE86611DC0D9}"/>
              </a:ext>
            </a:extLst>
          </p:cNvPr>
          <p:cNvSpPr/>
          <p:nvPr/>
        </p:nvSpPr>
        <p:spPr>
          <a:xfrm>
            <a:off x="-90535" y="-99588"/>
            <a:ext cx="2414635" cy="10005588"/>
          </a:xfrm>
          <a:prstGeom prst="rect">
            <a:avLst/>
          </a:prstGeom>
          <a:solidFill>
            <a:srgbClr val="E3E9E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687C7E-B141-1FC2-8EFA-1FBC05FAE5DB}"/>
              </a:ext>
            </a:extLst>
          </p:cNvPr>
          <p:cNvSpPr/>
          <p:nvPr/>
        </p:nvSpPr>
        <p:spPr>
          <a:xfrm>
            <a:off x="-90535" y="9778766"/>
            <a:ext cx="2414635" cy="316364"/>
          </a:xfrm>
          <a:prstGeom prst="rect">
            <a:avLst/>
          </a:prstGeom>
          <a:solidFill>
            <a:srgbClr val="001F3F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9F6DC-B3A0-095C-9A08-3D768750BF62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C308A9-4E17-1C84-F390-5629869B5B33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40E22E-790B-53E9-3784-A39DD2879823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01F3F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2C6D8-303E-EAD5-BE0B-348F820C4350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FORECAST &amp; SIMULAÇÃO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5E4EEE-8554-682A-CD3D-EDBD13AB701D}"/>
              </a:ext>
            </a:extLst>
          </p:cNvPr>
          <p:cNvSpPr txBox="1"/>
          <p:nvPr/>
        </p:nvSpPr>
        <p:spPr>
          <a:xfrm>
            <a:off x="-25006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1F3F"/>
                </a:solidFill>
              </a:rPr>
              <a:t>OLIST DASHBOARDS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F65842-4EE0-3F66-DED3-D05DF6F4A79D}"/>
              </a:ext>
            </a:extLst>
          </p:cNvPr>
          <p:cNvSpPr txBox="1"/>
          <p:nvPr/>
        </p:nvSpPr>
        <p:spPr>
          <a:xfrm>
            <a:off x="2622692" y="35884"/>
            <a:ext cx="273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CLIENTES &amp; PARTNERS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17289D-DFEE-63CA-7B36-D8A150DC9F65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B0B7939-404B-760D-9511-5A2C7098FFCC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3CB3EDC-6D5F-AF4D-DE06-00B1A651DB62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F7BD23B-F92E-7142-C914-BB6BAC20F9E7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CFEF358-3768-3913-ABB0-A4EAAB59A179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A36533E-C921-606E-B3EF-93F60F7500C0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65A4B98-C58D-6496-4033-FCFBE204706E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3F32D09-9C49-9D34-BDE8-4E95ABACE693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EDC38BE-6EFF-F429-D58E-C84F4DC73514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69078DF9-DF31-2F82-15BF-2B467CC53CDF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AD8FBC-A896-96F5-4A8F-ABF6465160A1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CE52466-B4BE-60FC-877E-DB0028E305E3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0807877-EFFD-C148-4896-9BD5252ECF17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20469DFF-CBF1-69A9-6FC1-99C02EF95192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0C22408-E407-4432-489E-3033C0F0FBAC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E9676CC-3510-BB2C-17C1-1DE1531371A2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7E9B8D3-708F-3389-1CD6-8B96C37AFA97}"/>
              </a:ext>
            </a:extLst>
          </p:cNvPr>
          <p:cNvGrpSpPr/>
          <p:nvPr/>
        </p:nvGrpSpPr>
        <p:grpSpPr>
          <a:xfrm>
            <a:off x="287212" y="6231681"/>
            <a:ext cx="272951" cy="316365"/>
            <a:chOff x="1257300" y="7731429"/>
            <a:chExt cx="388820" cy="480236"/>
          </a:xfrm>
        </p:grpSpPr>
        <p:sp>
          <p:nvSpPr>
            <p:cNvPr id="71" name="Flowchart: Data 70">
              <a:extLst>
                <a:ext uri="{FF2B5EF4-FFF2-40B4-BE49-F238E27FC236}">
                  <a16:creationId xmlns:a16="http://schemas.microsoft.com/office/drawing/2014/main" id="{F1609ADE-1EBC-64D9-F489-B8C507120B36}"/>
                </a:ext>
              </a:extLst>
            </p:cNvPr>
            <p:cNvSpPr/>
            <p:nvPr/>
          </p:nvSpPr>
          <p:spPr>
            <a:xfrm rot="7595302" flipV="1">
              <a:off x="1273747" y="7782244"/>
              <a:ext cx="267530" cy="1658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Flowchart: Data 69">
              <a:extLst>
                <a:ext uri="{FF2B5EF4-FFF2-40B4-BE49-F238E27FC236}">
                  <a16:creationId xmlns:a16="http://schemas.microsoft.com/office/drawing/2014/main" id="{840495EB-283A-BFF0-E864-05B97379F972}"/>
                </a:ext>
              </a:extLst>
            </p:cNvPr>
            <p:cNvSpPr/>
            <p:nvPr/>
          </p:nvSpPr>
          <p:spPr>
            <a:xfrm rot="10101382">
              <a:off x="1410920" y="7965067"/>
              <a:ext cx="235200" cy="223391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Flowchart: Data 68">
              <a:extLst>
                <a:ext uri="{FF2B5EF4-FFF2-40B4-BE49-F238E27FC236}">
                  <a16:creationId xmlns:a16="http://schemas.microsoft.com/office/drawing/2014/main" id="{1167AECE-DA09-3753-9F6E-71472FE1ABF6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10BBAE3-B938-8514-F5D3-0DFF5F3ACB81}"/>
              </a:ext>
            </a:extLst>
          </p:cNvPr>
          <p:cNvSpPr txBox="1"/>
          <p:nvPr/>
        </p:nvSpPr>
        <p:spPr>
          <a:xfrm>
            <a:off x="2965892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CLIENTES ÚNICOS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D5C58C-007C-7EEA-3C93-F9CE7698E619}"/>
              </a:ext>
            </a:extLst>
          </p:cNvPr>
          <p:cNvSpPr txBox="1"/>
          <p:nvPr/>
        </p:nvSpPr>
        <p:spPr>
          <a:xfrm>
            <a:off x="8148687" y="607926"/>
            <a:ext cx="283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FREQUÊNCIA DE COMPRAS POR CLIENTE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4AB847-8957-7165-5016-81AEC447C493}"/>
              </a:ext>
            </a:extLst>
          </p:cNvPr>
          <p:cNvSpPr txBox="1"/>
          <p:nvPr/>
        </p:nvSpPr>
        <p:spPr>
          <a:xfrm>
            <a:off x="14297025" y="607926"/>
            <a:ext cx="2266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% DE CLIENTES COM RECOMPRA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2E2A66-8159-8947-E9C7-02334ACBD2B1}"/>
              </a:ext>
            </a:extLst>
          </p:cNvPr>
          <p:cNvSpPr txBox="1"/>
          <p:nvPr/>
        </p:nvSpPr>
        <p:spPr>
          <a:xfrm>
            <a:off x="2603498" y="1841801"/>
            <a:ext cx="7848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FIDELIDADE DOS CLIENTES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7DA225-46B3-98B6-B2FC-1D0CBCBAC5AC}"/>
              </a:ext>
            </a:extLst>
          </p:cNvPr>
          <p:cNvSpPr txBox="1"/>
          <p:nvPr/>
        </p:nvSpPr>
        <p:spPr>
          <a:xfrm>
            <a:off x="10517628" y="1841801"/>
            <a:ext cx="3293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CATEGORIAS MAIS VENDIDAS</a:t>
            </a:r>
          </a:p>
          <a:p>
            <a:pPr algn="ctr"/>
            <a:r>
              <a:rPr lang="pt-BR" sz="1200" b="1" dirty="0">
                <a:solidFill>
                  <a:srgbClr val="001F3F"/>
                </a:solidFill>
              </a:rPr>
              <a:t>(TODOS)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7D4ADD-BD79-58C6-0E09-69BCB38C9BD4}"/>
              </a:ext>
            </a:extLst>
          </p:cNvPr>
          <p:cNvSpPr txBox="1"/>
          <p:nvPr/>
        </p:nvSpPr>
        <p:spPr>
          <a:xfrm>
            <a:off x="14215233" y="6164890"/>
            <a:ext cx="2847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TOP TENDÊNCIA DE CRESCIMENTO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43304E-675A-9BC2-7675-E9810C985FDB}"/>
              </a:ext>
            </a:extLst>
          </p:cNvPr>
          <p:cNvSpPr txBox="1"/>
          <p:nvPr/>
        </p:nvSpPr>
        <p:spPr>
          <a:xfrm>
            <a:off x="2590798" y="6160980"/>
            <a:ext cx="4572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TOP SELLERS POR FATURAMENTO E DEMANDA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4BC597-FF5D-BF08-CA8B-E140E541FE76}"/>
              </a:ext>
            </a:extLst>
          </p:cNvPr>
          <p:cNvSpPr/>
          <p:nvPr/>
        </p:nvSpPr>
        <p:spPr>
          <a:xfrm>
            <a:off x="7248522" y="6134854"/>
            <a:ext cx="6852410" cy="3567948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63CAA-781E-8120-EC76-CB00C98EA5E6}"/>
              </a:ext>
            </a:extLst>
          </p:cNvPr>
          <p:cNvSpPr txBox="1"/>
          <p:nvPr/>
        </p:nvSpPr>
        <p:spPr>
          <a:xfrm>
            <a:off x="7264400" y="6160979"/>
            <a:ext cx="6836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SELLERS COM TENDÊNCIA DE CRESCIMENTO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3487A-2C62-3DA4-FB63-644F63397473}"/>
              </a:ext>
            </a:extLst>
          </p:cNvPr>
          <p:cNvSpPr/>
          <p:nvPr/>
        </p:nvSpPr>
        <p:spPr>
          <a:xfrm flipV="1">
            <a:off x="394868" y="5726254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BD0F1-BF16-535C-7BF5-6EEFB908B712}"/>
              </a:ext>
            </a:extLst>
          </p:cNvPr>
          <p:cNvSpPr txBox="1"/>
          <p:nvPr/>
        </p:nvSpPr>
        <p:spPr>
          <a:xfrm>
            <a:off x="14225007" y="7914570"/>
            <a:ext cx="2847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MENOR TENDÊNCIA DE CRESCIMENTO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C4722-EEFD-08C0-1F4E-63B2DA5E90C0}"/>
              </a:ext>
            </a:extLst>
          </p:cNvPr>
          <p:cNvSpPr txBox="1"/>
          <p:nvPr/>
        </p:nvSpPr>
        <p:spPr>
          <a:xfrm>
            <a:off x="13775175" y="1841801"/>
            <a:ext cx="3293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CATEGORIAS MAIS VENDIDAS </a:t>
            </a:r>
          </a:p>
          <a:p>
            <a:pPr algn="ctr"/>
            <a:r>
              <a:rPr lang="pt-BR" sz="1200" b="1" dirty="0">
                <a:solidFill>
                  <a:srgbClr val="001F3F"/>
                </a:solidFill>
              </a:rPr>
              <a:t>(CLIENTES RECORRENTES)</a:t>
            </a:r>
          </a:p>
        </p:txBody>
      </p:sp>
    </p:spTree>
    <p:extLst>
      <p:ext uri="{BB962C8B-B14F-4D97-AF65-F5344CB8AC3E}">
        <p14:creationId xmlns:p14="http://schemas.microsoft.com/office/powerpoint/2010/main" val="170394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8DDB-9C6D-4D18-4E68-2A29865E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F45FABC-A377-E7FE-DD2A-7C02F66F5118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7F9B82D-FA18-9D15-08A6-44DBBCEF1EB9}"/>
              </a:ext>
            </a:extLst>
          </p:cNvPr>
          <p:cNvSpPr/>
          <p:nvPr/>
        </p:nvSpPr>
        <p:spPr>
          <a:xfrm flipV="1">
            <a:off x="2324100" y="-5"/>
            <a:ext cx="15011400" cy="4701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04686D6-1A13-3A34-6576-AEB15F988416}"/>
              </a:ext>
            </a:extLst>
          </p:cNvPr>
          <p:cNvSpPr/>
          <p:nvPr/>
        </p:nvSpPr>
        <p:spPr>
          <a:xfrm>
            <a:off x="6508671" y="1801514"/>
            <a:ext cx="10560127" cy="4746392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978F7F8-40C3-9E21-9569-F30EC5901DAC}"/>
              </a:ext>
            </a:extLst>
          </p:cNvPr>
          <p:cNvSpPr/>
          <p:nvPr/>
        </p:nvSpPr>
        <p:spPr>
          <a:xfrm>
            <a:off x="6508671" y="601577"/>
            <a:ext cx="10560126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48B618C-C67D-E0F0-F930-ACB83F1F6364}"/>
              </a:ext>
            </a:extLst>
          </p:cNvPr>
          <p:cNvSpPr/>
          <p:nvPr/>
        </p:nvSpPr>
        <p:spPr>
          <a:xfrm>
            <a:off x="2590798" y="601577"/>
            <a:ext cx="3762378" cy="9101225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DA878A-C85B-EDF9-EF02-939B258A0D31}"/>
              </a:ext>
            </a:extLst>
          </p:cNvPr>
          <p:cNvSpPr/>
          <p:nvPr/>
        </p:nvSpPr>
        <p:spPr>
          <a:xfrm>
            <a:off x="-90535" y="-99588"/>
            <a:ext cx="2414635" cy="10005588"/>
          </a:xfrm>
          <a:prstGeom prst="rect">
            <a:avLst/>
          </a:prstGeom>
          <a:solidFill>
            <a:srgbClr val="E3E9E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BB55FA-8A92-80A4-E344-D2F2DB2E4808}"/>
              </a:ext>
            </a:extLst>
          </p:cNvPr>
          <p:cNvSpPr/>
          <p:nvPr/>
        </p:nvSpPr>
        <p:spPr>
          <a:xfrm>
            <a:off x="-90535" y="9778766"/>
            <a:ext cx="2414635" cy="316364"/>
          </a:xfrm>
          <a:prstGeom prst="rect">
            <a:avLst/>
          </a:prstGeom>
          <a:solidFill>
            <a:srgbClr val="001F3F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AF4526-68D4-3FB6-2414-F49F95F1BCF3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D46E6E-5305-A936-432A-5086FA10D25E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0B3815-8B09-79DD-CE2A-072D892863A2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9FC61D-29A6-C715-2DB7-5E916216FA50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01F3F"/>
                </a:solidFill>
              </a:rPr>
              <a:t>FORECAST &amp; SIMULAÇÃO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2F2E63-6A88-AEA7-CE41-97181FE2900C}"/>
              </a:ext>
            </a:extLst>
          </p:cNvPr>
          <p:cNvSpPr txBox="1"/>
          <p:nvPr/>
        </p:nvSpPr>
        <p:spPr>
          <a:xfrm>
            <a:off x="-25006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1F3F"/>
                </a:solidFill>
              </a:rPr>
              <a:t>OLIST DASHBOARDS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87FD84-569F-C420-22ED-E2FD3A14A013}"/>
              </a:ext>
            </a:extLst>
          </p:cNvPr>
          <p:cNvSpPr txBox="1"/>
          <p:nvPr/>
        </p:nvSpPr>
        <p:spPr>
          <a:xfrm>
            <a:off x="2622692" y="35884"/>
            <a:ext cx="273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FORECAST &amp; SIMULAÇÃO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CD2CAD-BABD-7473-2156-1DF3EA5BC12D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EBF86A-658C-1DED-E9E5-0129CEA7FFD4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EF6EAB3-53B8-9136-C4B6-E912C3DC9A70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FD852D-86EF-67F9-D85C-0E57D78185C3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98AE8DD-51E9-24F1-839F-7A6D30A661D9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D2053D-AA98-D914-5AA1-13F63797ACAE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87B3812-966B-E32C-A898-40322DCC5F12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9917952-B17B-F7EF-3364-7E114E344BE6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403E875-A910-6CA5-4D66-5A3EF738FDA7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C99F289A-35B8-51E9-0DFF-F3782724FEC7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EC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B001280-AAD5-6DE3-8C33-6344B21FB16A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AE9F71-ACFF-3F9A-94FB-4F6FF490584D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B7E4B7B-BA08-088A-F516-7B8786AEC825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4573DE2F-3FA6-FE85-DAE2-99E84384AD26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4089EE5-9EAF-21AE-F784-E75EF57E04F6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968BA34-3A83-3876-BF58-3EFDA9E4A5D9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FCC38DD-68AF-9A17-D574-828ABBE0D243}"/>
              </a:ext>
            </a:extLst>
          </p:cNvPr>
          <p:cNvGrpSpPr/>
          <p:nvPr/>
        </p:nvGrpSpPr>
        <p:grpSpPr>
          <a:xfrm>
            <a:off x="287212" y="6231681"/>
            <a:ext cx="272951" cy="316365"/>
            <a:chOff x="1257300" y="7731429"/>
            <a:chExt cx="388820" cy="480236"/>
          </a:xfrm>
        </p:grpSpPr>
        <p:sp>
          <p:nvSpPr>
            <p:cNvPr id="71" name="Flowchart: Data 70">
              <a:extLst>
                <a:ext uri="{FF2B5EF4-FFF2-40B4-BE49-F238E27FC236}">
                  <a16:creationId xmlns:a16="http://schemas.microsoft.com/office/drawing/2014/main" id="{A2F91D4F-844C-CB78-F42B-34EF66B1147A}"/>
                </a:ext>
              </a:extLst>
            </p:cNvPr>
            <p:cNvSpPr/>
            <p:nvPr/>
          </p:nvSpPr>
          <p:spPr>
            <a:xfrm rot="7595302" flipV="1">
              <a:off x="1273747" y="7782244"/>
              <a:ext cx="267530" cy="165899"/>
            </a:xfrm>
            <a:prstGeom prst="flowChartInputOutpu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Flowchart: Data 69">
              <a:extLst>
                <a:ext uri="{FF2B5EF4-FFF2-40B4-BE49-F238E27FC236}">
                  <a16:creationId xmlns:a16="http://schemas.microsoft.com/office/drawing/2014/main" id="{56C86FF0-AC9F-FF35-168C-EE87069EBA8B}"/>
                </a:ext>
              </a:extLst>
            </p:cNvPr>
            <p:cNvSpPr/>
            <p:nvPr/>
          </p:nvSpPr>
          <p:spPr>
            <a:xfrm rot="10101382">
              <a:off x="1410920" y="7965067"/>
              <a:ext cx="235200" cy="223391"/>
            </a:xfrm>
            <a:prstGeom prst="flowChartInputOutpu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9" name="Flowchart: Data 68">
              <a:extLst>
                <a:ext uri="{FF2B5EF4-FFF2-40B4-BE49-F238E27FC236}">
                  <a16:creationId xmlns:a16="http://schemas.microsoft.com/office/drawing/2014/main" id="{3BC868E2-F31A-FDAB-0184-B9D221FA99F3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001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7C85BE0-2CB2-19F6-27DD-598D24B98EB3}"/>
              </a:ext>
            </a:extLst>
          </p:cNvPr>
          <p:cNvSpPr txBox="1"/>
          <p:nvPr/>
        </p:nvSpPr>
        <p:spPr>
          <a:xfrm>
            <a:off x="2590798" y="607926"/>
            <a:ext cx="376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REDUÇÃO NO ATRASO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20F25A-6B12-BEAE-1AE1-380B750AABBD}"/>
              </a:ext>
            </a:extLst>
          </p:cNvPr>
          <p:cNvSpPr txBox="1"/>
          <p:nvPr/>
        </p:nvSpPr>
        <p:spPr>
          <a:xfrm>
            <a:off x="8148687" y="607926"/>
            <a:ext cx="283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PROJETADA 3 MÊSES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73ED47-DD07-0A0A-3D89-6446322EBCC9}"/>
              </a:ext>
            </a:extLst>
          </p:cNvPr>
          <p:cNvSpPr txBox="1"/>
          <p:nvPr/>
        </p:nvSpPr>
        <p:spPr>
          <a:xfrm>
            <a:off x="14297025" y="607926"/>
            <a:ext cx="2266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GANHO PROJETADO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E011C4-E74D-8892-CA8E-C3562F26FCF5}"/>
              </a:ext>
            </a:extLst>
          </p:cNvPr>
          <p:cNvSpPr txBox="1"/>
          <p:nvPr/>
        </p:nvSpPr>
        <p:spPr>
          <a:xfrm>
            <a:off x="6508671" y="1841801"/>
            <a:ext cx="1056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HISTÓRICO DE GANHOS E PREVISÃO DE 3 MÊSES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6720D0-8B5B-E037-A81E-3D7778F8A419}"/>
              </a:ext>
            </a:extLst>
          </p:cNvPr>
          <p:cNvSpPr/>
          <p:nvPr/>
        </p:nvSpPr>
        <p:spPr>
          <a:xfrm>
            <a:off x="6508670" y="6667810"/>
            <a:ext cx="10560127" cy="3034992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C5A3D-22A8-E7D6-C980-35EE1723DEA5}"/>
              </a:ext>
            </a:extLst>
          </p:cNvPr>
          <p:cNvSpPr txBox="1"/>
          <p:nvPr/>
        </p:nvSpPr>
        <p:spPr>
          <a:xfrm>
            <a:off x="6508670" y="6710964"/>
            <a:ext cx="1056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CONCLUSÕES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D10532-0EBC-5114-F9EB-161180304F13}"/>
              </a:ext>
            </a:extLst>
          </p:cNvPr>
          <p:cNvSpPr/>
          <p:nvPr/>
        </p:nvSpPr>
        <p:spPr>
          <a:xfrm flipV="1">
            <a:off x="394868" y="6667810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744E9-95DA-E208-D924-CFB965BB6F43}"/>
              </a:ext>
            </a:extLst>
          </p:cNvPr>
          <p:cNvSpPr txBox="1"/>
          <p:nvPr/>
        </p:nvSpPr>
        <p:spPr>
          <a:xfrm>
            <a:off x="2590798" y="6710964"/>
            <a:ext cx="376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EXPANSÃO DOS SELLERS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D6B84-94EC-9179-E95F-D232AE174249}"/>
              </a:ext>
            </a:extLst>
          </p:cNvPr>
          <p:cNvSpPr txBox="1"/>
          <p:nvPr/>
        </p:nvSpPr>
        <p:spPr>
          <a:xfrm>
            <a:off x="2590798" y="3659445"/>
            <a:ext cx="376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AUMENTO NAS COMPRAS</a:t>
            </a:r>
          </a:p>
        </p:txBody>
      </p:sp>
    </p:spTree>
    <p:extLst>
      <p:ext uri="{BB962C8B-B14F-4D97-AF65-F5344CB8AC3E}">
        <p14:creationId xmlns:p14="http://schemas.microsoft.com/office/powerpoint/2010/main" val="380905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923</TotalTime>
  <Words>234</Words>
  <Application>Microsoft Office PowerPoint</Application>
  <PresentationFormat>Custom</PresentationFormat>
  <Paragraphs>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Vallim</dc:creator>
  <cp:lastModifiedBy>Leo Vallim</cp:lastModifiedBy>
  <cp:revision>13</cp:revision>
  <dcterms:created xsi:type="dcterms:W3CDTF">2026-04-21T12:58:34Z</dcterms:created>
  <dcterms:modified xsi:type="dcterms:W3CDTF">2026-04-23T02:41:59Z</dcterms:modified>
</cp:coreProperties>
</file>